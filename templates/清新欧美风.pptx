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第十一套是清新欧美风。它采用了简约的几何设计和明快的撞色，风格现代、国际化，非常适合英语、外语等课程。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清新欧美风的目录页，设计感强，信息传达直接，符合现代审美。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762000" y="-762000"/>
            <a:ext cx="2794000" cy="2794000"/>
          </a:xfrm>
          <a:prstGeom prst="ellipse">
            <a:avLst/>
          </a:prstGeom>
          <a:solidFill>
            <a:srgbClr val="FF9800">
              <a:alpha val="1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0" y="-1016000"/>
            <a:ext cx="2540000" cy="2540000"/>
          </a:xfrm>
          <a:prstGeom prst="ellipse">
            <a:avLst/>
          </a:prstGeom>
          <a:solidFill>
            <a:srgbClr val="1976D2">
              <a:alpha val="11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-1016000" y="5080000"/>
            <a:ext cx="2286000" cy="2286000"/>
          </a:xfrm>
          <a:prstGeom prst="ellipse">
            <a:avLst/>
          </a:prstGeom>
          <a:solidFill>
            <a:srgbClr val="E91E6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541000" y="5461000"/>
            <a:ext cx="1524000" cy="1143000"/>
          </a:xfrm>
          <a:prstGeom prst="roundRect">
            <a:avLst>
              <a:gd name="adj" fmla="val 0"/>
            </a:avLst>
          </a:prstGeom>
          <a:solidFill>
            <a:srgbClr val="FF980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524000" y="3556000"/>
            <a:ext cx="508000" cy="508000"/>
          </a:xfrm>
          <a:prstGeom prst="ellipse">
            <a:avLst/>
          </a:prstGeom>
          <a:solidFill>
            <a:srgbClr val="E91E63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0" y="3302000"/>
            <a:ext cx="381000" cy="381000"/>
          </a:xfrm>
          <a:prstGeom prst="ellipse">
            <a:avLst/>
          </a:prstGeom>
          <a:solidFill>
            <a:srgbClr val="1976D2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0" y="2413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976D2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模板十一：清新欧美风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3810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E91E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从百草园到三味书屋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72000" y="5334000"/>
            <a:ext cx="228600" cy="228600"/>
          </a:xfrm>
          <a:prstGeom prst="ellipse">
            <a:avLst/>
          </a:prstGeom>
          <a:solidFill>
            <a:srgbClr val="1976D2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334000" y="5397500"/>
            <a:ext cx="152400" cy="152400"/>
          </a:xfrm>
          <a:prstGeom prst="ellipse">
            <a:avLst/>
          </a:prstGeom>
          <a:solidFill>
            <a:srgbClr val="E91E63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096000" y="5334000"/>
            <a:ext cx="228600" cy="228600"/>
          </a:xfrm>
          <a:prstGeom prst="ellipse">
            <a:avLst/>
          </a:prstGeom>
          <a:solidFill>
            <a:srgbClr val="FF98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858000" y="5397500"/>
            <a:ext cx="152400" cy="152400"/>
          </a:xfrm>
          <a:prstGeom prst="ellipse">
            <a:avLst/>
          </a:prstGeom>
          <a:solidFill>
            <a:srgbClr val="1976D2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08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976D2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课 程 目 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35000" y="1587500"/>
            <a:ext cx="3556000" cy="2349500"/>
          </a:xfrm>
          <a:prstGeom prst="roundRect">
            <a:avLst>
              <a:gd name="adj" fmla="val 0"/>
            </a:avLst>
          </a:prstGeom>
          <a:solidFill>
            <a:srgbClr val="1976D2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35000" y="1587500"/>
            <a:ext cx="3556000" cy="63500"/>
          </a:xfrm>
          <a:prstGeom prst="roundRect">
            <a:avLst>
              <a:gd name="adj" fmla="val 0"/>
            </a:avLst>
          </a:prstGeom>
          <a:solidFill>
            <a:srgbClr val="1976D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825500" y="1778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E91E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714500" y="1841500"/>
            <a:ext cx="234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学习目标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25500" y="2730500"/>
            <a:ext cx="3238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明确本课核心知识框架与学习重点，建立清晰的能力培养方向，让学习过程更具针对性与目标感。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81500" y="1587500"/>
            <a:ext cx="3556000" cy="2349500"/>
          </a:xfrm>
          <a:prstGeom prst="roundRect">
            <a:avLst>
              <a:gd name="adj" fmla="val 0"/>
            </a:avLst>
          </a:prstGeom>
          <a:solidFill>
            <a:srgbClr val="E91E63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381500" y="1587500"/>
            <a:ext cx="3556000" cy="63500"/>
          </a:xfrm>
          <a:prstGeom prst="roundRect">
            <a:avLst>
              <a:gd name="adj" fmla="val 0"/>
            </a:avLst>
          </a:prstGeom>
          <a:solidFill>
            <a:srgbClr val="E91E6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572000" y="1778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E91E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461000" y="1841500"/>
            <a:ext cx="234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课文导入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2730500"/>
            <a:ext cx="3238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结合趣味情境与生活实例开启新课，快速吸引注意力，在轻松氛围中自然衔接至核心文本的学习。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587500"/>
            <a:ext cx="3556000" cy="2349500"/>
          </a:xfrm>
          <a:prstGeom prst="roundRect">
            <a:avLst>
              <a:gd name="adj" fmla="val 0"/>
            </a:avLst>
          </a:prstGeom>
          <a:solidFill>
            <a:srgbClr val="FF9800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128000" y="1587500"/>
            <a:ext cx="3556000" cy="63500"/>
          </a:xfrm>
          <a:prstGeom prst="roundRect">
            <a:avLst>
              <a:gd name="adj" fmla="val 0"/>
            </a:avLst>
          </a:prstGeom>
          <a:solidFill>
            <a:srgbClr val="FF98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318500" y="1778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E91E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207500" y="1841500"/>
            <a:ext cx="234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课文精讲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18500" y="2730500"/>
            <a:ext cx="3238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逐段剖析文本细节，深度解读关键语句与写作逻辑，引导大家准确把握文章主旨与情感表达。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" y="4127500"/>
            <a:ext cx="5397500" cy="2286000"/>
          </a:xfrm>
          <a:prstGeom prst="roundRect">
            <a:avLst>
              <a:gd name="adj" fmla="val 0"/>
            </a:avLst>
          </a:prstGeom>
          <a:solidFill>
            <a:srgbClr val="00BCD4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35000" y="4127500"/>
            <a:ext cx="5397500" cy="635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25500" y="4292600"/>
            <a:ext cx="88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E91E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841500" y="4356100"/>
            <a:ext cx="355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难点解析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25500" y="5207000"/>
            <a:ext cx="501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针对本课的核心疑难问题展开专项突破，通过逻辑拆解与实例辅助，直观地化解抽象概念与复杂知识点，帮助大家扫清学习障碍，真正吃透难点内容。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86500" y="4127500"/>
            <a:ext cx="5397500" cy="2286000"/>
          </a:xfrm>
          <a:prstGeom prst="roundRect">
            <a:avLst>
              <a:gd name="adj" fmla="val 0"/>
            </a:avLst>
          </a:prstGeom>
          <a:solidFill>
            <a:srgbClr val="9C27B0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286500" y="4127500"/>
            <a:ext cx="5397500" cy="63500"/>
          </a:xfrm>
          <a:prstGeom prst="roundRect">
            <a:avLst>
              <a:gd name="adj" fmla="val 0"/>
            </a:avLst>
          </a:prstGeom>
          <a:solidFill>
            <a:srgbClr val="9C27B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477000" y="4292600"/>
            <a:ext cx="88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E91E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493000" y="4356100"/>
            <a:ext cx="355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课堂总结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477000" y="5207000"/>
            <a:ext cx="501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系统梳理本课知识脉络，串联关键知识点形成完整体系。通过回顾重点内容与易错点，强化学习记忆，让大家能够清晰掌握本课核心收获，实现学以致用。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</Words>
  <Application>WPS 演示</Application>
  <PresentationFormat>宽屏</PresentationFormat>
  <Paragraphs>36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幼圆</vt:lpstr>
      <vt:lpstr>Noto Sans SC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启拓</cp:lastModifiedBy>
  <cp:revision>157</cp:revision>
  <dcterms:created xsi:type="dcterms:W3CDTF">2019-06-19T02:08:00Z</dcterms:created>
  <dcterms:modified xsi:type="dcterms:W3CDTF">2026-05-27T05:07:17Z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EB8B2A298623423E8B2270EEF260ED6F_11</vt:lpwstr>
  </property>
</Properties>
</file>